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63" r:id="rId8"/>
    <p:sldId id="259" r:id="rId9"/>
    <p:sldId id="260" r:id="rId10"/>
    <p:sldId id="262" r:id="rId11"/>
    <p:sldId id="264" r:id="rId12"/>
    <p:sldId id="266" r:id="rId13"/>
    <p:sldId id="267" r:id="rId14"/>
    <p:sldId id="268" r:id="rId15"/>
    <p:sldId id="270" r:id="rId16"/>
    <p:sldId id="269" r:id="rId17"/>
    <p:sldId id="271" r:id="rId18"/>
    <p:sldId id="272" r:id="rId19"/>
    <p:sldId id="276" r:id="rId20"/>
    <p:sldId id="273" r:id="rId21"/>
    <p:sldId id="274" r:id="rId22"/>
    <p:sldId id="275" r:id="rId23"/>
    <p:sldId id="278" r:id="rId24"/>
    <p:sldId id="279" r:id="rId25"/>
    <p:sldId id="277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819675-2E8A-0535-FB89-13EE5FB2BC18}" v="2209" dt="2025-11-13T21:37:29.859"/>
    <p1510:client id="{275A5059-BCB0-27AB-8A99-9F8F9CF90E6E}" v="2160" dt="2025-11-12T20:46:03.202"/>
    <p1510:client id="{62F62CBF-FC86-5D64-4D42-3E9E129D3929}" v="2548" dt="2025-11-13T19:51:26.152"/>
    <p1510:client id="{98DB0BC2-819B-8C1A-31A1-92645BE6E124}" v="412" dt="2025-11-13T20:05:55.588"/>
    <p1510:client id="{BBE45075-5023-74CD-E5F3-F7A985DFC160}" v="10" dt="2025-11-13T22:25:07.849"/>
    <p1510:client id="{C79527F3-879B-4529-8BD9-B24D3923D6C1}" v="2" dt="2025-11-13T22:26:10.3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2025-11-13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2025-11-13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2025-11-13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2025-11-13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2025-11-13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2025-11-13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2025-11-13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2025-11-13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2025-11-13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2025-11-13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2025-11-13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2025-11-13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ucy.andrews@water.ca.gov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thropic.com/engineering/effective-context-engineering-for-ai-agents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imonwillison.net/2025/Sep/18/agents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611" y="890450"/>
            <a:ext cx="10866781" cy="238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</a:rPr>
              <a:t>Creating an inventory of peer-reviewed scientific literature using</a:t>
            </a:r>
            <a:br>
              <a:rPr lang="en-US" b="1" dirty="0">
                <a:solidFill>
                  <a:schemeClr val="accent6">
                    <a:lumMod val="76000"/>
                  </a:schemeClr>
                </a:solidFill>
                <a:latin typeface="Aptos Display"/>
                <a:ea typeface="Roboto"/>
                <a:cs typeface="Roboto"/>
              </a:rPr>
            </a:br>
            <a:r>
              <a:rPr lang="en-US" b="1" dirty="0">
                <a:solidFill>
                  <a:schemeClr val="accent6">
                    <a:lumMod val="76000"/>
                  </a:schemeClr>
                </a:solidFill>
                <a:latin typeface="Aptos Display"/>
                <a:ea typeface="Roboto"/>
                <a:cs typeface="Roboto"/>
              </a:rPr>
              <a:t>✨</a:t>
            </a:r>
            <a:r>
              <a:rPr lang="en-US" b="1" dirty="0">
                <a:solidFill>
                  <a:schemeClr val="accent6">
                    <a:lumMod val="76000"/>
                  </a:schemeClr>
                </a:solidFill>
                <a:ea typeface="Roboto"/>
                <a:cs typeface="Roboto"/>
              </a:rPr>
              <a:t> </a:t>
            </a:r>
            <a:r>
              <a:rPr lang="en-US" b="1" dirty="0">
                <a:solidFill>
                  <a:schemeClr val="accent6">
                    <a:lumMod val="76000"/>
                  </a:schemeClr>
                </a:solidFill>
              </a:rPr>
              <a:t>LLMs</a:t>
            </a:r>
            <a:r>
              <a:rPr lang="en-US" b="1" dirty="0">
                <a:solidFill>
                  <a:schemeClr val="accent6">
                    <a:lumMod val="76000"/>
                  </a:schemeClr>
                </a:solidFill>
                <a:latin typeface="Aptos Display"/>
                <a:ea typeface="Roboto"/>
                <a:cs typeface="Roboto"/>
              </a:rPr>
              <a:t> ✨</a:t>
            </a:r>
            <a:endParaRPr lang="en-US" b="1">
              <a:solidFill>
                <a:schemeClr val="accent6">
                  <a:lumMod val="76000"/>
                </a:schemeClr>
              </a:solidFill>
              <a:latin typeface="Aptos Display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33951"/>
            <a:ext cx="9144000" cy="22741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i="1" dirty="0">
                <a:latin typeface="Aptos Display"/>
              </a:rPr>
              <a:t>IEP Data Science Project Work Team meeting</a:t>
            </a:r>
          </a:p>
          <a:p>
            <a:r>
              <a:rPr lang="en-US" sz="2800" i="1" dirty="0">
                <a:latin typeface="Aptos Display"/>
              </a:rPr>
              <a:t>November 13, 2025</a:t>
            </a:r>
          </a:p>
          <a:p>
            <a:endParaRPr lang="en-US" sz="2800" i="1" dirty="0">
              <a:latin typeface="Aptos Display"/>
            </a:endParaRPr>
          </a:p>
          <a:p>
            <a:r>
              <a:rPr lang="en-US" sz="2800" i="1" dirty="0">
                <a:latin typeface="Aptos Display"/>
              </a:rPr>
              <a:t>Lucy Andrews, PhD (</a:t>
            </a:r>
            <a:r>
              <a:rPr lang="en-US" sz="2800" i="1" dirty="0">
                <a:latin typeface="Aptos Display"/>
                <a:hlinkClick r:id="rId2"/>
              </a:rPr>
              <a:t>lucy.andrews@water.ca.gov</a:t>
            </a:r>
            <a:r>
              <a:rPr lang="en-US" sz="2800" i="1" dirty="0">
                <a:latin typeface="Aptos Display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06C4C-8B19-B2B0-06BA-EC900B653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</a:rPr>
              <a:t>The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DA4A9-7A51-200A-658A-35E57A379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spcAft>
                <a:spcPts val="1000"/>
              </a:spcAft>
              <a:buAutoNum type="arabicPeriod"/>
            </a:pPr>
            <a:r>
              <a:rPr lang="en-US" sz="2400" b="1" dirty="0"/>
              <a:t>Create an inventory of peer-reviewed scientific publications to which DWR has contributed (authorship, funding).</a:t>
            </a:r>
            <a:endParaRPr lang="en-US"/>
          </a:p>
          <a:p>
            <a:pPr marL="514350" indent="-514350">
              <a:spcAft>
                <a:spcPts val="1000"/>
              </a:spcAft>
              <a:buAutoNum type="arabicPeriod"/>
            </a:pPr>
            <a:r>
              <a:rPr lang="en-US" sz="2400" b="1" dirty="0"/>
              <a:t>Identify the nature of DWR's contributions.</a:t>
            </a:r>
          </a:p>
          <a:p>
            <a:pPr marL="514350" indent="-514350">
              <a:spcAft>
                <a:spcPts val="1000"/>
              </a:spcAft>
              <a:buAutoNum type="arabicPeriod"/>
            </a:pPr>
            <a:r>
              <a:rPr lang="en-US" sz="2400" b="1" dirty="0"/>
              <a:t>Identify partners in publishing.</a:t>
            </a:r>
          </a:p>
          <a:p>
            <a:pPr marL="514350" indent="-514350">
              <a:spcAft>
                <a:spcPts val="1000"/>
              </a:spcAft>
              <a:buAutoNum type="arabicPeriod"/>
            </a:pPr>
            <a:r>
              <a:rPr lang="en-US" sz="2400" b="1" dirty="0"/>
              <a:t>Classify publications by field using a custom taxonomy of disciplines.</a:t>
            </a:r>
          </a:p>
          <a:p>
            <a:pPr marL="514350" indent="-514350">
              <a:spcAft>
                <a:spcPts val="1000"/>
              </a:spcAft>
              <a:buAutoNum type="arabicPeriod"/>
            </a:pPr>
            <a:r>
              <a:rPr lang="en-US" sz="2400" dirty="0"/>
              <a:t>Export the inventory as a user-friendly flat file.</a:t>
            </a:r>
          </a:p>
          <a:p>
            <a:pPr marL="514350" indent="-514350">
              <a:spcAft>
                <a:spcPts val="1000"/>
              </a:spcAft>
              <a:buAutoNum type="arabicPeriod"/>
            </a:pPr>
            <a:r>
              <a:rPr lang="en-US" sz="2400" dirty="0"/>
              <a:t>Create a visualization front-end for DWR staff (and eventually the public) to interact with the inventory.</a:t>
            </a:r>
          </a:p>
        </p:txBody>
      </p:sp>
    </p:spTree>
    <p:extLst>
      <p:ext uri="{BB962C8B-B14F-4D97-AF65-F5344CB8AC3E}">
        <p14:creationId xmlns:p14="http://schemas.microsoft.com/office/powerpoint/2010/main" val="67986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70C07-E939-393A-F2A7-3495B83A6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</a:rPr>
              <a:t>Complexities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4285D-C736-AAD3-6EC9-4E2768296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86820" cy="48007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1000"/>
              </a:spcAft>
            </a:pPr>
            <a:r>
              <a:rPr lang="en-US" dirty="0"/>
              <a:t>Journals host primary metadata and serve the them via APIs with idiosyncratic structures.</a:t>
            </a:r>
            <a:endParaRPr lang="en-US"/>
          </a:p>
          <a:p>
            <a:pPr>
              <a:spcAft>
                <a:spcPts val="1000"/>
              </a:spcAft>
            </a:pPr>
            <a:r>
              <a:rPr lang="en-US" dirty="0"/>
              <a:t>A few centralizing services host or scrape metadata from journals to create comprehensive APIs that serve standardized metadata from far fewer endpoints, but metadata standardization is imperfect.</a:t>
            </a:r>
          </a:p>
          <a:p>
            <a:pPr>
              <a:spcAft>
                <a:spcPts val="1000"/>
              </a:spcAft>
            </a:pPr>
            <a:r>
              <a:rPr lang="en-US" dirty="0"/>
              <a:t>Some fields are served "as-is,"  rather than in analysis-friendly structures.</a:t>
            </a:r>
          </a:p>
          <a:p>
            <a:pPr>
              <a:spcAft>
                <a:spcPts val="1000"/>
              </a:spcAft>
            </a:pPr>
            <a:r>
              <a:rPr lang="en-US" dirty="0"/>
              <a:t>Cleaning and classifying publications requires working with unstructured text.</a:t>
            </a:r>
          </a:p>
        </p:txBody>
      </p:sp>
    </p:spTree>
    <p:extLst>
      <p:ext uri="{BB962C8B-B14F-4D97-AF65-F5344CB8AC3E}">
        <p14:creationId xmlns:p14="http://schemas.microsoft.com/office/powerpoint/2010/main" val="2830132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C4D9ADB-5775-BA0C-C0C6-CE026E9B0E71}"/>
              </a:ext>
            </a:extLst>
          </p:cNvPr>
          <p:cNvGrpSpPr/>
          <p:nvPr/>
        </p:nvGrpSpPr>
        <p:grpSpPr>
          <a:xfrm>
            <a:off x="671798" y="175370"/>
            <a:ext cx="8906210" cy="6532880"/>
            <a:chOff x="1025189" y="142240"/>
            <a:chExt cx="8906210" cy="653288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5074C56-6F56-67E3-EBA8-4D788B098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5189" y="142240"/>
              <a:ext cx="7581302" cy="653288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9A7ACE1-4DB3-B5CD-CD74-99CB785F0427}"/>
                </a:ext>
              </a:extLst>
            </p:cNvPr>
            <p:cNvSpPr/>
            <p:nvPr/>
          </p:nvSpPr>
          <p:spPr>
            <a:xfrm>
              <a:off x="1163320" y="151130"/>
              <a:ext cx="3089275" cy="43815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DFD40B6-D174-C9E3-D6EE-AA0966FB2B9C}"/>
                </a:ext>
              </a:extLst>
            </p:cNvPr>
            <p:cNvSpPr/>
            <p:nvPr/>
          </p:nvSpPr>
          <p:spPr>
            <a:xfrm>
              <a:off x="1163320" y="1887220"/>
              <a:ext cx="7325360" cy="4178300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CDF4C2D-E6D5-3EC1-B043-48EB2500F9CB}"/>
                </a:ext>
              </a:extLst>
            </p:cNvPr>
            <p:cNvSpPr/>
            <p:nvPr/>
          </p:nvSpPr>
          <p:spPr>
            <a:xfrm>
              <a:off x="4194870" y="6164580"/>
              <a:ext cx="2631440" cy="419100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" name="TextBox 7">
              <a:extLst>
                <a:ext uri="{FF2B5EF4-FFF2-40B4-BE49-F238E27FC236}">
                  <a16:creationId xmlns:a16="http://schemas.microsoft.com/office/drawing/2014/main" id="{2C36877B-DEC0-0D6C-3CB0-F099AA3934D4}"/>
                </a:ext>
              </a:extLst>
            </p:cNvPr>
            <p:cNvSpPr txBox="1"/>
            <p:nvPr/>
          </p:nvSpPr>
          <p:spPr>
            <a:xfrm>
              <a:off x="7889239" y="996563"/>
              <a:ext cx="2042160" cy="523220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b="1" dirty="0">
                  <a:solidFill>
                    <a:schemeClr val="tx2">
                      <a:lumMod val="49000"/>
                      <a:lumOff val="51000"/>
                    </a:schemeClr>
                  </a:solidFill>
                </a:rPr>
                <a:t>+ abstract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80128BD-8F0F-055C-C3ED-F804AC48A80E}"/>
                </a:ext>
              </a:extLst>
            </p:cNvPr>
            <p:cNvSpPr/>
            <p:nvPr/>
          </p:nvSpPr>
          <p:spPr>
            <a:xfrm>
              <a:off x="1163320" y="668903"/>
              <a:ext cx="8656320" cy="1135600"/>
            </a:xfrm>
            <a:prstGeom prst="rect">
              <a:avLst/>
            </a:prstGeom>
            <a:noFill/>
            <a:ln w="28575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2620D43-314C-B94A-7609-A889F973808C}"/>
              </a:ext>
            </a:extLst>
          </p:cNvPr>
          <p:cNvSpPr txBox="1"/>
          <p:nvPr/>
        </p:nvSpPr>
        <p:spPr>
          <a:xfrm>
            <a:off x="8404087" y="5389217"/>
            <a:ext cx="333512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+ other metadata such as count of times cited</a:t>
            </a:r>
          </a:p>
        </p:txBody>
      </p:sp>
    </p:spTree>
    <p:extLst>
      <p:ext uri="{BB962C8B-B14F-4D97-AF65-F5344CB8AC3E}">
        <p14:creationId xmlns:p14="http://schemas.microsoft.com/office/powerpoint/2010/main" val="2815145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0CE43-3214-0E76-4D98-C1B9D71C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</a:rPr>
              <a:t>Activities and Approaches</a:t>
            </a:r>
            <a:endParaRPr lang="en-US">
              <a:solidFill>
                <a:schemeClr val="accent6">
                  <a:lumMod val="76000"/>
                </a:schemeClr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EDE0B45-8113-39B8-BE2F-6886EA60BEB0}"/>
              </a:ext>
            </a:extLst>
          </p:cNvPr>
          <p:cNvGrpSpPr/>
          <p:nvPr/>
        </p:nvGrpSpPr>
        <p:grpSpPr>
          <a:xfrm>
            <a:off x="2152261" y="1888433"/>
            <a:ext cx="7887475" cy="4019825"/>
            <a:chOff x="593914" y="2076172"/>
            <a:chExt cx="7887475" cy="401982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77CCECF-930C-D8B2-C7DF-1C1DA0DFA3E0}"/>
                </a:ext>
              </a:extLst>
            </p:cNvPr>
            <p:cNvSpPr/>
            <p:nvPr/>
          </p:nvSpPr>
          <p:spPr>
            <a:xfrm>
              <a:off x="593914" y="2076172"/>
              <a:ext cx="3271302" cy="2407477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3200" dirty="0">
                  <a:solidFill>
                    <a:srgbClr val="000000"/>
                  </a:solidFill>
                </a:rPr>
                <a:t>Import, clean, and reshape data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DAE9404-C286-490A-6A61-3847031CE34A}"/>
                </a:ext>
              </a:extLst>
            </p:cNvPr>
            <p:cNvSpPr/>
            <p:nvPr/>
          </p:nvSpPr>
          <p:spPr>
            <a:xfrm>
              <a:off x="593914" y="4881215"/>
              <a:ext cx="3271302" cy="121478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3200" dirty="0">
                  <a:solidFill>
                    <a:srgbClr val="000000"/>
                  </a:solidFill>
                </a:rPr>
                <a:t>Classify publications</a:t>
              </a:r>
              <a:endParaRPr lang="en-US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BAB373A-6289-1ED8-1B48-80C845E3C3B9}"/>
                </a:ext>
              </a:extLst>
            </p:cNvPr>
            <p:cNvCxnSpPr/>
            <p:nvPr/>
          </p:nvCxnSpPr>
          <p:spPr>
            <a:xfrm flipV="1">
              <a:off x="3865217" y="2385392"/>
              <a:ext cx="1590260" cy="11043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0ABF25B-C07C-3151-5043-D4CD1DDBFE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5216" y="3290957"/>
              <a:ext cx="1590260" cy="11043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3D06B1D-D92E-BDE8-87D9-8C37DE046A0F}"/>
                </a:ext>
              </a:extLst>
            </p:cNvPr>
            <p:cNvGrpSpPr/>
            <p:nvPr/>
          </p:nvGrpSpPr>
          <p:grpSpPr>
            <a:xfrm>
              <a:off x="5455477" y="2076172"/>
              <a:ext cx="3025912" cy="2407479"/>
              <a:chOff x="5455477" y="2274955"/>
              <a:chExt cx="3025912" cy="2175566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8C2DAE7-583D-9736-A94E-370C00802232}"/>
                  </a:ext>
                </a:extLst>
              </p:cNvPr>
              <p:cNvSpPr/>
              <p:nvPr/>
            </p:nvSpPr>
            <p:spPr>
              <a:xfrm>
                <a:off x="5455477" y="3092173"/>
                <a:ext cx="3025912" cy="530087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0000"/>
                    </a:solidFill>
                  </a:rPr>
                  <a:t>Functional programming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D36FB75-CC0D-E0B6-3686-1B52E1D59A69}"/>
                  </a:ext>
                </a:extLst>
              </p:cNvPr>
              <p:cNvSpPr/>
              <p:nvPr/>
            </p:nvSpPr>
            <p:spPr>
              <a:xfrm>
                <a:off x="5455477" y="3920434"/>
                <a:ext cx="3025912" cy="530087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dirty="0">
                    <a:solidFill>
                      <a:srgbClr val="000000"/>
                    </a:solidFill>
                  </a:rPr>
                  <a:t>Large language models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E27BE44-E413-19DD-C131-F704548A33A3}"/>
                  </a:ext>
                </a:extLst>
              </p:cNvPr>
              <p:cNvSpPr/>
              <p:nvPr/>
            </p:nvSpPr>
            <p:spPr>
              <a:xfrm>
                <a:off x="5455477" y="2274955"/>
                <a:ext cx="3025912" cy="530087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dirty="0">
                    <a:solidFill>
                      <a:srgbClr val="000000"/>
                    </a:solidFill>
                  </a:rPr>
                  <a:t>API calls</a:t>
                </a:r>
                <a:endParaRPr lang="en-US" dirty="0"/>
              </a:p>
            </p:txBody>
          </p: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0159B99-08F6-6B27-F8DD-358BB0165A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5216" y="4196522"/>
              <a:ext cx="1590260" cy="11043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FE3DF52-72D5-77D6-90DD-38167440629A}"/>
                </a:ext>
              </a:extLst>
            </p:cNvPr>
            <p:cNvSpPr/>
            <p:nvPr/>
          </p:nvSpPr>
          <p:spPr>
            <a:xfrm>
              <a:off x="5453268" y="5197979"/>
              <a:ext cx="3025912" cy="5865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Large language models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994AAFF-4518-6C7D-1758-ACDD730D8B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5216" y="5499652"/>
              <a:ext cx="1590260" cy="11043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04643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92456-1F6C-68E2-2D2A-BE3CBB27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</a:rPr>
              <a:t>Import, Clean, and Reshape: APIs</a:t>
            </a:r>
          </a:p>
        </p:txBody>
      </p:sp>
      <p:pic>
        <p:nvPicPr>
          <p:cNvPr id="5" name="Graphic 4" descr="File:Scopus logo.svg - Wikimedia Commons">
            <a:extLst>
              <a:ext uri="{FF2B5EF4-FFF2-40B4-BE49-F238E27FC236}">
                <a16:creationId xmlns:a16="http://schemas.microsoft.com/office/drawing/2014/main" id="{DB85CF22-74C8-652E-DC74-78E063D3D1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097" y="2260686"/>
            <a:ext cx="2842591" cy="912020"/>
          </a:xfrm>
          <a:prstGeom prst="rect">
            <a:avLst/>
          </a:prstGeom>
        </p:spPr>
      </p:pic>
      <p:pic>
        <p:nvPicPr>
          <p:cNvPr id="7" name="Picture 6" descr="Open Infrastructure Archives - OpenAlex blog">
            <a:extLst>
              <a:ext uri="{FF2B5EF4-FFF2-40B4-BE49-F238E27FC236}">
                <a16:creationId xmlns:a16="http://schemas.microsoft.com/office/drawing/2014/main" id="{73C4FC08-E76C-EBA6-6AC1-48A82E185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0313" y="1844703"/>
            <a:ext cx="3814415" cy="1732943"/>
          </a:xfrm>
          <a:prstGeom prst="rect">
            <a:avLst/>
          </a:prstGeom>
        </p:spPr>
      </p:pic>
      <p:pic>
        <p:nvPicPr>
          <p:cNvPr id="8" name="Picture 7" descr="Feedback on new helper tool - Questions from Crossref - Crossref community  forum">
            <a:extLst>
              <a:ext uri="{FF2B5EF4-FFF2-40B4-BE49-F238E27FC236}">
                <a16:creationId xmlns:a16="http://schemas.microsoft.com/office/drawing/2014/main" id="{CA1C751F-608D-98A8-65A1-A00EF766ED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5184" y="1981575"/>
            <a:ext cx="3085544" cy="106163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E33D25F-217A-ACD9-6F0C-4C751D26C55F}"/>
              </a:ext>
            </a:extLst>
          </p:cNvPr>
          <p:cNvGrpSpPr/>
          <p:nvPr/>
        </p:nvGrpSpPr>
        <p:grpSpPr>
          <a:xfrm>
            <a:off x="1501913" y="1976782"/>
            <a:ext cx="1501912" cy="1442718"/>
            <a:chOff x="2661478" y="3898347"/>
            <a:chExt cx="1192695" cy="1188719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DB6C205-C64D-727B-0262-167AEA83A47D}"/>
                </a:ext>
              </a:extLst>
            </p:cNvPr>
            <p:cNvCxnSpPr/>
            <p:nvPr/>
          </p:nvCxnSpPr>
          <p:spPr>
            <a:xfrm>
              <a:off x="2661478" y="3898347"/>
              <a:ext cx="1192695" cy="1188719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37C658A-EAE8-0483-4B2B-441D112D9A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1478" y="3898347"/>
              <a:ext cx="1192695" cy="1188719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6FD05F-F832-D1D9-B40E-FC96789F8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62684"/>
            <a:ext cx="10494628" cy="177000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1000"/>
              </a:spcAft>
            </a:pPr>
            <a:r>
              <a:rPr lang="en-US" dirty="0"/>
              <a:t>Keyword searches in works metadata fields (e.g., "California Department of Water Resources" in author affiliation)</a:t>
            </a:r>
            <a:endParaRPr lang="en-US"/>
          </a:p>
          <a:p>
            <a:pPr>
              <a:spcAft>
                <a:spcPts val="1000"/>
              </a:spcAft>
            </a:pPr>
            <a:r>
              <a:rPr lang="en-US" dirty="0"/>
              <a:t>Funder unique identifier (         )</a:t>
            </a:r>
          </a:p>
        </p:txBody>
      </p:sp>
      <p:pic>
        <p:nvPicPr>
          <p:cNvPr id="6" name="Picture 5" descr="Research Organization Registry (ROR) | Home">
            <a:extLst>
              <a:ext uri="{FF2B5EF4-FFF2-40B4-BE49-F238E27FC236}">
                <a16:creationId xmlns:a16="http://schemas.microsoft.com/office/drawing/2014/main" id="{6A377C2E-8BB0-9A1A-555F-98F8268F8B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3618" y="5676472"/>
            <a:ext cx="567635" cy="3607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4ED628-42B9-A697-9B23-72718CD81C13}"/>
              </a:ext>
            </a:extLst>
          </p:cNvPr>
          <p:cNvSpPr txBox="1"/>
          <p:nvPr/>
        </p:nvSpPr>
        <p:spPr>
          <a:xfrm>
            <a:off x="1069596" y="3663192"/>
            <a:ext cx="23768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/>
              <a:t>not yet...</a:t>
            </a:r>
          </a:p>
        </p:txBody>
      </p:sp>
    </p:spTree>
    <p:extLst>
      <p:ext uri="{BB962C8B-B14F-4D97-AF65-F5344CB8AC3E}">
        <p14:creationId xmlns:p14="http://schemas.microsoft.com/office/powerpoint/2010/main" val="219900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8FB1C-DCF6-78E3-6861-1A13ADADA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48444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</a:rPr>
              <a:t>Import, Clean, and Reshape: Functional Programming</a:t>
            </a:r>
            <a:endParaRPr lang="en-US">
              <a:solidFill>
                <a:schemeClr val="accent6">
                  <a:lumMod val="76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AD4E0-EEA2-CEFC-B177-7B0955641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2235"/>
            <a:ext cx="10515600" cy="380889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Data served by API endpoints, especially author names and affiliations, often have nested and heterogeneous structures and may require intermediate parsing and reshaping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636C4F-7835-C657-68E3-69D3AADDD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651" y="3916051"/>
            <a:ext cx="1910523" cy="22077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207118-9283-6A17-8DB4-646A90DEE7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80" r="219" b="13529"/>
          <a:stretch>
            <a:fillRect/>
          </a:stretch>
        </p:blipFill>
        <p:spPr>
          <a:xfrm>
            <a:off x="3895447" y="3730035"/>
            <a:ext cx="7007333" cy="257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802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F2CF1-4664-D76F-7945-364C2B139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</a:rPr>
              <a:t>An Interlude: LLMs for Analytic Work</a:t>
            </a:r>
            <a:endParaRPr lang="en-US">
              <a:solidFill>
                <a:schemeClr val="accent6">
                  <a:lumMod val="76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3C97D0-F635-66E2-3F26-49E67018E056}"/>
              </a:ext>
            </a:extLst>
          </p:cNvPr>
          <p:cNvSpPr/>
          <p:nvPr/>
        </p:nvSpPr>
        <p:spPr>
          <a:xfrm>
            <a:off x="496955" y="1954693"/>
            <a:ext cx="3555999" cy="121478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dirty="0">
                <a:solidFill>
                  <a:srgbClr val="000000"/>
                </a:solidFill>
              </a:rPr>
              <a:t>Brainstorm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5532DC-4017-F3AA-253C-3AC09B653A65}"/>
              </a:ext>
            </a:extLst>
          </p:cNvPr>
          <p:cNvSpPr/>
          <p:nvPr/>
        </p:nvSpPr>
        <p:spPr>
          <a:xfrm>
            <a:off x="4295911" y="1954693"/>
            <a:ext cx="3555999" cy="121478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dirty="0">
                <a:solidFill>
                  <a:srgbClr val="000000"/>
                </a:solidFill>
              </a:rPr>
              <a:t>Generate code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14BB77-7D3C-BCE8-C202-B46565BE627A}"/>
              </a:ext>
            </a:extLst>
          </p:cNvPr>
          <p:cNvSpPr/>
          <p:nvPr/>
        </p:nvSpPr>
        <p:spPr>
          <a:xfrm>
            <a:off x="8094868" y="1954693"/>
            <a:ext cx="3555999" cy="121478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dirty="0">
                <a:solidFill>
                  <a:srgbClr val="000000"/>
                </a:solidFill>
              </a:rPr>
              <a:t>Analyze unstructured text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4E2014-C788-61D5-A26F-C8E26F9011E7}"/>
              </a:ext>
            </a:extLst>
          </p:cNvPr>
          <p:cNvSpPr txBox="1"/>
          <p:nvPr/>
        </p:nvSpPr>
        <p:spPr>
          <a:xfrm>
            <a:off x="706782" y="3434521"/>
            <a:ext cx="3136348" cy="26161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Open-ended questions and ensuing discussion, such as: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dirty="0"/>
              <a:t>Does this structure seem feasible?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dirty="0"/>
              <a:t>How could I improve this?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dirty="0"/>
              <a:t>What problems should I anticipate?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dirty="0"/>
              <a:t>What libraries should I try?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35D615-323A-4994-5265-724F8CD3C83E}"/>
              </a:ext>
            </a:extLst>
          </p:cNvPr>
          <p:cNvSpPr txBox="1"/>
          <p:nvPr/>
        </p:nvSpPr>
        <p:spPr>
          <a:xfrm>
            <a:off x="4841297" y="3434521"/>
            <a:ext cx="2507175" cy="28469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Functions</a:t>
            </a:r>
          </a:p>
          <a:p>
            <a:pPr>
              <a:spcAft>
                <a:spcPts val="600"/>
              </a:spcAft>
            </a:pPr>
            <a:r>
              <a:rPr lang="en-US" dirty="0"/>
              <a:t>Tests</a:t>
            </a:r>
          </a:p>
          <a:p>
            <a:pPr>
              <a:spcAft>
                <a:spcPts val="600"/>
              </a:spcAft>
            </a:pPr>
            <a:r>
              <a:rPr lang="en-US" dirty="0"/>
              <a:t>Documentation</a:t>
            </a:r>
          </a:p>
          <a:p>
            <a:pPr>
              <a:spcAft>
                <a:spcPts val="600"/>
              </a:spcAft>
            </a:pPr>
            <a:r>
              <a:rPr lang="en-US" dirty="0"/>
              <a:t>README files</a:t>
            </a:r>
          </a:p>
          <a:p>
            <a:pPr>
              <a:spcAft>
                <a:spcPts val="600"/>
              </a:spcAft>
            </a:pPr>
            <a:r>
              <a:rPr lang="en-US" dirty="0"/>
              <a:t>Regex</a:t>
            </a:r>
          </a:p>
          <a:p>
            <a:pPr>
              <a:spcAft>
                <a:spcPts val="600"/>
              </a:spcAft>
            </a:pPr>
            <a:r>
              <a:rPr lang="en-US" dirty="0"/>
              <a:t>Data exploration</a:t>
            </a:r>
          </a:p>
          <a:p>
            <a:pPr>
              <a:spcAft>
                <a:spcPts val="600"/>
              </a:spcAft>
            </a:pPr>
            <a:r>
              <a:rPr lang="en-US" dirty="0"/>
              <a:t>Munging and reshaping</a:t>
            </a:r>
          </a:p>
          <a:p>
            <a:pPr>
              <a:spcAft>
                <a:spcPts val="600"/>
              </a:spcAft>
            </a:pPr>
            <a:r>
              <a:rPr lang="en-US" dirty="0"/>
              <a:t>Bug fixes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452440-2FD2-C4C7-EC84-210F5CFA259F}"/>
              </a:ext>
            </a:extLst>
          </p:cNvPr>
          <p:cNvSpPr txBox="1"/>
          <p:nvPr/>
        </p:nvSpPr>
        <p:spPr>
          <a:xfrm>
            <a:off x="9001903" y="3434520"/>
            <a:ext cx="1752167" cy="21390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Summarization</a:t>
            </a:r>
          </a:p>
          <a:p>
            <a:pPr>
              <a:spcAft>
                <a:spcPts val="600"/>
              </a:spcAft>
            </a:pPr>
            <a:r>
              <a:rPr lang="en-US" dirty="0"/>
              <a:t>Classification</a:t>
            </a:r>
          </a:p>
          <a:p>
            <a:pPr>
              <a:spcAft>
                <a:spcPts val="600"/>
              </a:spcAft>
            </a:pPr>
            <a:r>
              <a:rPr lang="en-US"/>
              <a:t>Extraction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Standardization</a:t>
            </a:r>
          </a:p>
          <a:p>
            <a:pPr>
              <a:spcAft>
                <a:spcPts val="600"/>
              </a:spcAft>
            </a:pPr>
            <a:r>
              <a:rPr lang="en-US" dirty="0"/>
              <a:t>Translation</a:t>
            </a:r>
          </a:p>
          <a:p>
            <a:pPr>
              <a:spcAft>
                <a:spcPts val="600"/>
              </a:spcAft>
            </a:pPr>
            <a:r>
              <a:rPr lang="en-US" dirty="0"/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2451122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664B2-5B11-9533-610A-B9FB9980A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</a:rPr>
              <a:t>How LLMs Work</a:t>
            </a:r>
            <a:endParaRPr lang="en-US">
              <a:solidFill>
                <a:schemeClr val="accent6">
                  <a:lumMod val="76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331A2-6A49-58F5-3858-44AFC457F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93104" cy="465194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1000"/>
              </a:spcAft>
            </a:pPr>
            <a:r>
              <a:rPr lang="en-US" dirty="0"/>
              <a:t>Neural networks trained on massive corpora of text</a:t>
            </a:r>
            <a:endParaRPr lang="en-US"/>
          </a:p>
          <a:p>
            <a:pPr lvl="1">
              <a:spcAft>
                <a:spcPts val="1000"/>
              </a:spcAft>
            </a:pPr>
            <a:r>
              <a:rPr lang="en-US" dirty="0"/>
              <a:t>Semi-supervised learning---initially unsupervised learning with unlabeled training data, then fine-tuning through supervised learning</a:t>
            </a:r>
          </a:p>
          <a:p>
            <a:pPr>
              <a:spcAft>
                <a:spcPts val="1000"/>
              </a:spcAft>
            </a:pPr>
            <a:r>
              <a:rPr lang="en-US" dirty="0"/>
              <a:t>Built from transformer architectures that model long-range dependencies in text</a:t>
            </a:r>
          </a:p>
          <a:p>
            <a:pPr lvl="1">
              <a:spcAft>
                <a:spcPts val="1000"/>
              </a:spcAft>
            </a:pPr>
            <a:r>
              <a:rPr lang="en-US" dirty="0"/>
              <a:t>Input data are processed with embedding models and self-attention mechanisms so that inputs are encoded in a context-aware fashion, rather than purely sequentially</a:t>
            </a:r>
          </a:p>
          <a:p>
            <a:pPr lvl="1">
              <a:spcAft>
                <a:spcPts val="1000"/>
              </a:spcAft>
            </a:pPr>
            <a:r>
              <a:rPr lang="en-US" dirty="0"/>
              <a:t>Semantic structures (meanings and relationships) emerge from embedding patterns</a:t>
            </a:r>
          </a:p>
        </p:txBody>
      </p:sp>
    </p:spTree>
    <p:extLst>
      <p:ext uri="{BB962C8B-B14F-4D97-AF65-F5344CB8AC3E}">
        <p14:creationId xmlns:p14="http://schemas.microsoft.com/office/powerpoint/2010/main" val="2481006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372FF-FBA7-9784-4C46-7730AEE93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8B84-9D70-36D1-FEF0-9C50379CB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</a:rPr>
              <a:t>How LLMs Work</a:t>
            </a:r>
            <a:endParaRPr lang="en-US">
              <a:solidFill>
                <a:schemeClr val="accent6">
                  <a:lumMod val="76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3296B-003E-D6E8-181C-7D97F88EC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93104" cy="465194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1000"/>
              </a:spcAft>
            </a:pPr>
            <a:r>
              <a:rPr lang="en-US" dirty="0"/>
              <a:t>Core task is next-token prediction using supplied context as input</a:t>
            </a:r>
          </a:p>
          <a:p>
            <a:pPr lvl="1">
              <a:spcAft>
                <a:spcPts val="1000"/>
              </a:spcAft>
            </a:pPr>
            <a:r>
              <a:rPr lang="en-US" dirty="0"/>
              <a:t>Tokens are short sequences of characters (typically sub-word)</a:t>
            </a:r>
          </a:p>
          <a:p>
            <a:pPr lvl="1">
              <a:spcAft>
                <a:spcPts val="1000"/>
              </a:spcAft>
            </a:pPr>
            <a:r>
              <a:rPr lang="en-US" dirty="0"/>
              <a:t>Possible next tokens are associated with a probability distribution</a:t>
            </a:r>
          </a:p>
          <a:p>
            <a:pPr lvl="1">
              <a:spcAft>
                <a:spcPts val="1000"/>
              </a:spcAft>
            </a:pPr>
            <a:r>
              <a:rPr lang="en-US" dirty="0"/>
              <a:t>Generation (inference) happens by sampling from the distribution with parameters such as "temperature" controlling the balance of "creativity" and determinism, producing stochasticity</a:t>
            </a:r>
          </a:p>
        </p:txBody>
      </p:sp>
    </p:spTree>
    <p:extLst>
      <p:ext uri="{BB962C8B-B14F-4D97-AF65-F5344CB8AC3E}">
        <p14:creationId xmlns:p14="http://schemas.microsoft.com/office/powerpoint/2010/main" val="3678217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42F87-82C5-6476-A488-F431B16CC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</a:rPr>
              <a:t>Considerations for Using an LLM</a:t>
            </a:r>
            <a:endParaRPr lang="en-US">
              <a:solidFill>
                <a:schemeClr val="accent6">
                  <a:lumMod val="76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BA894-36B1-FC91-3BBC-01C2079F7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49030" cy="450513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1000"/>
              </a:spcAft>
            </a:pPr>
            <a:r>
              <a:rPr lang="en-US" dirty="0"/>
              <a:t>Stochasticity is often inherent and desired</a:t>
            </a:r>
          </a:p>
          <a:p>
            <a:pPr>
              <a:spcAft>
                <a:spcPts val="1000"/>
              </a:spcAft>
            </a:pPr>
            <a:r>
              <a:rPr lang="en-US" dirty="0"/>
              <a:t>Models reflect training data</a:t>
            </a:r>
          </a:p>
          <a:p>
            <a:pPr lvl="1">
              <a:spcAft>
                <a:spcPts val="1000"/>
              </a:spcAft>
            </a:pPr>
            <a:r>
              <a:rPr lang="en-US" dirty="0"/>
              <a:t>Training data is the entire internet; therefore, though most LLM providers build in supervised learning and control gates to minimize problematic inference, biases can persist</a:t>
            </a:r>
          </a:p>
          <a:p>
            <a:pPr lvl="1">
              <a:spcAft>
                <a:spcPts val="1000"/>
              </a:spcAft>
            </a:pPr>
            <a:r>
              <a:rPr lang="en-US" dirty="0"/>
              <a:t>LLM training data cut-off dates are often 6-12 months before LLM publication</a:t>
            </a:r>
          </a:p>
          <a:p>
            <a:pPr>
              <a:spcAft>
                <a:spcPts val="1000"/>
              </a:spcAft>
            </a:pPr>
            <a:r>
              <a:rPr lang="en-US" dirty="0"/>
              <a:t>In simple use, LLMs optimize for likelihood, not factuality</a:t>
            </a:r>
          </a:p>
          <a:p>
            <a:pPr lvl="1">
              <a:spcAft>
                <a:spcPts val="1000"/>
              </a:spcAft>
            </a:pPr>
            <a:r>
              <a:rPr lang="en-US" dirty="0"/>
              <a:t>Retrieval augmented generation and tool calling enable greater fidelity to source material</a:t>
            </a:r>
          </a:p>
          <a:p>
            <a:pPr>
              <a:spcAft>
                <a:spcPts val="10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201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63F96-501A-1BD2-B71D-8F3947D8A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</a:rPr>
              <a:t>Considerations for Using an LLM</a:t>
            </a:r>
            <a:endParaRPr lang="en-US" dirty="0">
              <a:solidFill>
                <a:schemeClr val="accent6">
                  <a:lumMod val="76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73DA7D-1A49-03FC-C8EE-154B3849F5AA}"/>
              </a:ext>
            </a:extLst>
          </p:cNvPr>
          <p:cNvSpPr/>
          <p:nvPr/>
        </p:nvSpPr>
        <p:spPr>
          <a:xfrm>
            <a:off x="1007285" y="1954693"/>
            <a:ext cx="4926199" cy="121478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dirty="0">
                <a:solidFill>
                  <a:srgbClr val="000000"/>
                </a:solidFill>
              </a:rPr>
              <a:t>Indications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BEF1EC-F48C-084F-79D0-1D3ABA653CB9}"/>
              </a:ext>
            </a:extLst>
          </p:cNvPr>
          <p:cNvSpPr/>
          <p:nvPr/>
        </p:nvSpPr>
        <p:spPr>
          <a:xfrm>
            <a:off x="6260333" y="1954693"/>
            <a:ext cx="4926199" cy="121478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dirty="0">
                <a:solidFill>
                  <a:srgbClr val="000000"/>
                </a:solidFill>
              </a:rPr>
              <a:t>Contraindications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B0F7FA-6FE9-3409-5F03-3675E2F30836}"/>
              </a:ext>
            </a:extLst>
          </p:cNvPr>
          <p:cNvSpPr txBox="1"/>
          <p:nvPr/>
        </p:nvSpPr>
        <p:spPr>
          <a:xfrm>
            <a:off x="1238084" y="3322667"/>
            <a:ext cx="4464605" cy="23237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 dirty="0"/>
              <a:t>Unstructured or messy inputs</a:t>
            </a:r>
            <a:endParaRPr lang="en-US" dirty="0"/>
          </a:p>
          <a:p>
            <a:pPr>
              <a:spcAft>
                <a:spcPts val="1000"/>
              </a:spcAft>
            </a:pPr>
            <a:r>
              <a:rPr lang="en-US" sz="2400" dirty="0"/>
              <a:t>Pattern recognition or text transformation</a:t>
            </a:r>
          </a:p>
          <a:p>
            <a:pPr>
              <a:spcAft>
                <a:spcPts val="1000"/>
              </a:spcAft>
            </a:pPr>
            <a:r>
              <a:rPr lang="en-US" sz="2400" dirty="0"/>
              <a:t>Structured output (e.g., JSON)</a:t>
            </a:r>
          </a:p>
          <a:p>
            <a:pPr>
              <a:spcAft>
                <a:spcPts val="1000"/>
              </a:spcAft>
            </a:pPr>
            <a:r>
              <a:rPr lang="en-US" sz="2400" dirty="0"/>
              <a:t>Tolerance for minor errors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535503-19A7-2839-1175-822FD6269E6F}"/>
              </a:ext>
            </a:extLst>
          </p:cNvPr>
          <p:cNvSpPr txBox="1"/>
          <p:nvPr/>
        </p:nvSpPr>
        <p:spPr>
          <a:xfrm>
            <a:off x="6467221" y="3322667"/>
            <a:ext cx="4499560" cy="2693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 dirty="0"/>
              <a:t>Requirement for precise factual accuracy</a:t>
            </a:r>
          </a:p>
          <a:p>
            <a:pPr>
              <a:spcAft>
                <a:spcPts val="1000"/>
              </a:spcAft>
            </a:pPr>
            <a:r>
              <a:rPr lang="en-US" sz="2400" dirty="0"/>
              <a:t>Sparse domain knowledge</a:t>
            </a:r>
          </a:p>
          <a:p>
            <a:pPr>
              <a:spcAft>
                <a:spcPts val="1000"/>
              </a:spcAft>
            </a:pPr>
            <a:r>
              <a:rPr lang="en-US" sz="2400" dirty="0"/>
              <a:t>Ambiguous input data</a:t>
            </a:r>
          </a:p>
          <a:p>
            <a:pPr>
              <a:spcAft>
                <a:spcPts val="1000"/>
              </a:spcAft>
            </a:pPr>
            <a:r>
              <a:rPr lang="en-US" sz="2400" dirty="0"/>
              <a:t>Requirement for deterministic output</a:t>
            </a:r>
          </a:p>
        </p:txBody>
      </p:sp>
    </p:spTree>
    <p:extLst>
      <p:ext uri="{BB962C8B-B14F-4D97-AF65-F5344CB8AC3E}">
        <p14:creationId xmlns:p14="http://schemas.microsoft.com/office/powerpoint/2010/main" val="3110786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DFCD-8DFD-0307-527E-8BAC34A37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</a:rPr>
              <a:t>Context Engineering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FDD97D-16A2-1174-AF12-99CAC312A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06" y="1690097"/>
            <a:ext cx="10220588" cy="47431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A0987A-3F7F-184C-286F-85BF16670CC2}"/>
              </a:ext>
            </a:extLst>
          </p:cNvPr>
          <p:cNvSpPr txBox="1"/>
          <p:nvPr/>
        </p:nvSpPr>
        <p:spPr>
          <a:xfrm>
            <a:off x="9283817" y="181761"/>
            <a:ext cx="27124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dirty="0"/>
              <a:t>Figure source: </a:t>
            </a:r>
            <a:r>
              <a:rPr lang="en-US" dirty="0">
                <a:hlinkClick r:id="rId3"/>
              </a:rPr>
              <a:t>Anthropic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806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E92D2-570C-AC17-C117-239D45C1F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74866" cy="1332553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</a:rPr>
              <a:t>Context Engineering – Single Prompt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58511-7FB8-F223-79A1-DEBB2DEAE4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9" t="240" r="64750" b="294"/>
          <a:stretch>
            <a:fillRect/>
          </a:stretch>
        </p:blipFill>
        <p:spPr>
          <a:xfrm>
            <a:off x="985706" y="1703119"/>
            <a:ext cx="3609719" cy="47178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AF4596-4856-E723-2788-00E1CC34D45B}"/>
              </a:ext>
            </a:extLst>
          </p:cNvPr>
          <p:cNvSpPr txBox="1"/>
          <p:nvPr/>
        </p:nvSpPr>
        <p:spPr>
          <a:xfrm>
            <a:off x="4957203" y="2336961"/>
            <a:ext cx="3569780" cy="34470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 dirty="0"/>
              <a:t>Common components:</a:t>
            </a:r>
          </a:p>
          <a:p>
            <a:pPr marL="800100" lvl="1" indent="-342900">
              <a:spcAft>
                <a:spcPts val="1000"/>
              </a:spcAft>
              <a:buFont typeface="Arial"/>
              <a:buChar char="•"/>
            </a:pPr>
            <a:r>
              <a:rPr lang="en-US" sz="2400"/>
              <a:t>Role</a:t>
            </a:r>
            <a:endParaRPr lang="en-US"/>
          </a:p>
          <a:p>
            <a:pPr marL="800100" lvl="1" indent="-342900">
              <a:spcAft>
                <a:spcPts val="1000"/>
              </a:spcAft>
              <a:buFont typeface="Arial"/>
              <a:buChar char="•"/>
            </a:pPr>
            <a:r>
              <a:rPr lang="en-US" sz="2400" dirty="0"/>
              <a:t>Instructions</a:t>
            </a:r>
          </a:p>
          <a:p>
            <a:pPr marL="800100" lvl="1" indent="-342900">
              <a:spcAft>
                <a:spcPts val="1000"/>
              </a:spcAft>
              <a:buFont typeface="Arial"/>
              <a:buChar char="•"/>
            </a:pPr>
            <a:r>
              <a:rPr lang="en-US" sz="2400" dirty="0"/>
              <a:t>Important details</a:t>
            </a:r>
          </a:p>
          <a:p>
            <a:pPr marL="800100" lvl="1" indent="-342900">
              <a:spcAft>
                <a:spcPts val="1000"/>
              </a:spcAft>
              <a:buFont typeface="Arial"/>
              <a:buChar char="•"/>
            </a:pPr>
            <a:r>
              <a:rPr lang="en-US" sz="2400" dirty="0"/>
              <a:t>Input description</a:t>
            </a:r>
          </a:p>
          <a:p>
            <a:pPr marL="800100" lvl="1" indent="-342900">
              <a:spcAft>
                <a:spcPts val="1000"/>
              </a:spcAft>
              <a:buFont typeface="Arial"/>
              <a:buChar char="•"/>
            </a:pPr>
            <a:r>
              <a:rPr lang="en-US" sz="2400" dirty="0"/>
              <a:t>Output structure</a:t>
            </a:r>
          </a:p>
          <a:p>
            <a:pPr marL="800100" lvl="1" indent="-342900">
              <a:spcAft>
                <a:spcPts val="1000"/>
              </a:spcAft>
              <a:buFont typeface="Arial"/>
              <a:buChar char="•"/>
            </a:pPr>
            <a:r>
              <a:rPr lang="en-US" sz="2400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398804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27060-819F-7B72-DCC1-141E0A706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EA5B9-AAD9-7DDE-64BE-0A8A8A66E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74866" cy="1332553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</a:rPr>
              <a:t>Context Engineering – Single Prompt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4B5F02-0DB4-7854-F5AE-4F8490028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57" y="1889825"/>
            <a:ext cx="10915081" cy="430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764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43E4C-0208-FAEB-F7C4-C3C2BB82A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</a:rPr>
              <a:t>Context Engineering – Single Prompt</a:t>
            </a:r>
            <a:endParaRPr lang="en-US">
              <a:solidFill>
                <a:schemeClr val="accent6">
                  <a:lumMod val="76000"/>
                </a:schemeClr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B88524B-DD58-1292-AFB5-2BF978A083BB}"/>
              </a:ext>
            </a:extLst>
          </p:cNvPr>
          <p:cNvGrpSpPr/>
          <p:nvPr/>
        </p:nvGrpSpPr>
        <p:grpSpPr>
          <a:xfrm>
            <a:off x="282062" y="1691897"/>
            <a:ext cx="11740343" cy="4808479"/>
            <a:chOff x="393915" y="1691897"/>
            <a:chExt cx="11740343" cy="480847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F377633-7E8D-D1C0-0200-7D3F3C5A0178}"/>
                </a:ext>
              </a:extLst>
            </p:cNvPr>
            <p:cNvGrpSpPr/>
            <p:nvPr/>
          </p:nvGrpSpPr>
          <p:grpSpPr>
            <a:xfrm>
              <a:off x="393915" y="1691897"/>
              <a:ext cx="10022234" cy="4808479"/>
              <a:chOff x="1285067" y="1646694"/>
              <a:chExt cx="10022234" cy="4808479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C630BF-8CFF-4D80-EE8F-79A3678B1175}"/>
                  </a:ext>
                </a:extLst>
              </p:cNvPr>
              <p:cNvSpPr txBox="1"/>
              <p:nvPr/>
            </p:nvSpPr>
            <p:spPr>
              <a:xfrm>
                <a:off x="6722387" y="1950201"/>
                <a:ext cx="2725117" cy="70788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2000" dirty="0"/>
                  <a:t>LLM-powered application chat UI</a:t>
                </a:r>
              </a:p>
            </p:txBody>
          </p:sp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3C209827-0AA8-CDE0-CE42-8F38CB8CD2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312985" y="3611022"/>
                <a:ext cx="1718317" cy="1979357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7257BD-4994-3D84-4545-B8F4B333A00A}"/>
                  </a:ext>
                </a:extLst>
              </p:cNvPr>
              <p:cNvSpPr txBox="1"/>
              <p:nvPr/>
            </p:nvSpPr>
            <p:spPr>
              <a:xfrm>
                <a:off x="1285067" y="5747288"/>
                <a:ext cx="1769389" cy="40011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2000" dirty="0"/>
                  <a:t>Chat</a:t>
                </a:r>
                <a:endParaRPr lang="en-US" sz="1600"/>
              </a:p>
            </p:txBody>
          </p:sp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D68598BF-D024-0594-15BF-9E10EDABC2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73298" y="3608145"/>
                <a:ext cx="1729353" cy="1992287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0FB3A9-70FE-C1C9-1DEF-030022CE6F54}"/>
                  </a:ext>
                </a:extLst>
              </p:cNvPr>
              <p:cNvSpPr txBox="1"/>
              <p:nvPr/>
            </p:nvSpPr>
            <p:spPr>
              <a:xfrm>
                <a:off x="4875507" y="5747287"/>
                <a:ext cx="2518473" cy="70788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2000" dirty="0"/>
                  <a:t>Retrieval-augmented generation (RAG)</a:t>
                </a:r>
              </a:p>
            </p:txBody>
          </p:sp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16ACC68C-54E7-0990-5664-B1DF9D5AE8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233086" y="2843938"/>
                <a:ext cx="1697267" cy="1970869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8238810C-1904-E94A-2A3D-D3C0F8CCC4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71433" y="2846877"/>
                <a:ext cx="1755183" cy="2094143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4C1F3DD9-DD2C-D37F-8C44-C9ADD7C9EF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86620" y="3602420"/>
                <a:ext cx="1722895" cy="1990821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B72DA7B-73B5-1067-345C-F7294CB2DC85}"/>
                  </a:ext>
                </a:extLst>
              </p:cNvPr>
              <p:cNvSpPr txBox="1"/>
              <p:nvPr/>
            </p:nvSpPr>
            <p:spPr>
              <a:xfrm>
                <a:off x="8788828" y="5747286"/>
                <a:ext cx="2518473" cy="40011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2000" dirty="0"/>
                  <a:t>LLM evaluation</a:t>
                </a:r>
                <a:endParaRPr lang="en-US" sz="160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F42B4C-10E0-54C4-07BC-FB21EF5F4161}"/>
                  </a:ext>
                </a:extLst>
              </p:cNvPr>
              <p:cNvSpPr txBox="1"/>
              <p:nvPr/>
            </p:nvSpPr>
            <p:spPr>
              <a:xfrm>
                <a:off x="2886557" y="1646694"/>
                <a:ext cx="2518473" cy="1015663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2000" dirty="0"/>
                  <a:t>Model context protocol servers and clients</a:t>
                </a:r>
                <a:endParaRPr lang="en-US" sz="1600" dirty="0"/>
              </a:p>
            </p:txBody>
          </p:sp>
        </p:grp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32D25404-7023-3A01-916E-9857723AFA1E}"/>
                </a:ext>
              </a:extLst>
            </p:cNvPr>
            <p:cNvSpPr/>
            <p:nvPr/>
          </p:nvSpPr>
          <p:spPr>
            <a:xfrm rot="5400000">
              <a:off x="10209507" y="2957592"/>
              <a:ext cx="1835308" cy="1722172"/>
            </a:xfrm>
            <a:prstGeom prst="hexagon">
              <a:avLst/>
            </a:prstGeom>
            <a:solidFill>
              <a:schemeClr val="bg1">
                <a:lumMod val="85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D2D1EDB-4773-9C8E-6A47-FEE667B8EDB6}"/>
                </a:ext>
              </a:extLst>
            </p:cNvPr>
            <p:cNvSpPr txBox="1"/>
            <p:nvPr/>
          </p:nvSpPr>
          <p:spPr>
            <a:xfrm>
              <a:off x="10122204" y="2273639"/>
              <a:ext cx="2012054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000" dirty="0"/>
                <a:t>Direct calls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1811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084E3-5944-EFB9-753C-511A26558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</a:rPr>
              <a:t>Context Engineering - Agent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C8A781-603E-EED2-AD96-D0F23B85C8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743" t="257" r="67"/>
          <a:stretch>
            <a:fillRect/>
          </a:stretch>
        </p:blipFill>
        <p:spPr>
          <a:xfrm>
            <a:off x="841544" y="1716028"/>
            <a:ext cx="6356133" cy="47309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6E15D9-A6FE-E9BA-D727-CE98C8D478AE}"/>
              </a:ext>
            </a:extLst>
          </p:cNvPr>
          <p:cNvSpPr txBox="1"/>
          <p:nvPr/>
        </p:nvSpPr>
        <p:spPr>
          <a:xfrm>
            <a:off x="7716878" y="2886150"/>
            <a:ext cx="3638428" cy="23903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 dirty="0"/>
              <a:t>Large language model(s)</a:t>
            </a:r>
            <a:endParaRPr lang="en-US" dirty="0"/>
          </a:p>
          <a:p>
            <a:pPr>
              <a:spcAft>
                <a:spcPts val="1000"/>
              </a:spcAft>
            </a:pPr>
            <a:r>
              <a:rPr lang="en-US" sz="2400" dirty="0"/>
              <a:t>running tools</a:t>
            </a:r>
            <a:endParaRPr lang="en-US" dirty="0"/>
          </a:p>
          <a:p>
            <a:pPr>
              <a:spcAft>
                <a:spcPts val="1000"/>
              </a:spcAft>
            </a:pPr>
            <a:r>
              <a:rPr lang="en-US" sz="2400" dirty="0"/>
              <a:t>in a loop</a:t>
            </a:r>
            <a:endParaRPr lang="en-US" dirty="0"/>
          </a:p>
          <a:p>
            <a:pPr>
              <a:spcAft>
                <a:spcPts val="1000"/>
              </a:spcAft>
            </a:pPr>
            <a:r>
              <a:rPr lang="en-US" sz="2400" dirty="0"/>
              <a:t>to achieve a goal.</a:t>
            </a:r>
            <a:endParaRPr lang="en-US" dirty="0"/>
          </a:p>
          <a:p>
            <a:pPr marL="800100" lvl="1" indent="-342900">
              <a:spcAft>
                <a:spcPts val="1000"/>
              </a:spcAft>
              <a:buFont typeface="Calibri"/>
              <a:buChar char="-"/>
            </a:pPr>
            <a:r>
              <a:rPr lang="en-US" sz="2000" dirty="0">
                <a:hlinkClick r:id="rId3"/>
              </a:rPr>
              <a:t>Simon Willison</a:t>
            </a:r>
          </a:p>
        </p:txBody>
      </p:sp>
    </p:spTree>
    <p:extLst>
      <p:ext uri="{BB962C8B-B14F-4D97-AF65-F5344CB8AC3E}">
        <p14:creationId xmlns:p14="http://schemas.microsoft.com/office/powerpoint/2010/main" val="2086946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3E580-4BB1-4F2E-9F64-A7DE82CF7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7B489-CC7C-2A32-8A3B-49D4B154E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</a:rPr>
              <a:t>Context Engineering - Agent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68690C-38BF-29B0-9274-2B164DC490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743" t="257" r="67"/>
          <a:stretch>
            <a:fillRect/>
          </a:stretch>
        </p:blipFill>
        <p:spPr>
          <a:xfrm>
            <a:off x="841544" y="1716028"/>
            <a:ext cx="6356133" cy="47309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C0BC90-B87A-E431-74D9-240A61DB2AAA}"/>
              </a:ext>
            </a:extLst>
          </p:cNvPr>
          <p:cNvSpPr txBox="1"/>
          <p:nvPr/>
        </p:nvSpPr>
        <p:spPr>
          <a:xfrm>
            <a:off x="7414825" y="2238526"/>
            <a:ext cx="4462210" cy="36881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 dirty="0"/>
              <a:t>Common components:</a:t>
            </a:r>
          </a:p>
          <a:p>
            <a:pPr marL="800100" lvl="1" indent="-342900">
              <a:spcAft>
                <a:spcPts val="1000"/>
              </a:spcAft>
              <a:buFont typeface="Arial"/>
              <a:buChar char="•"/>
            </a:pPr>
            <a:r>
              <a:rPr lang="en-US" sz="2400" dirty="0"/>
              <a:t>System prompt (role, tone, bounds, etc.)</a:t>
            </a:r>
            <a:endParaRPr lang="en-US" dirty="0"/>
          </a:p>
          <a:p>
            <a:pPr marL="800100" lvl="1" indent="-342900">
              <a:spcAft>
                <a:spcPts val="1000"/>
              </a:spcAft>
              <a:buFont typeface="Arial"/>
              <a:buChar char="•"/>
            </a:pPr>
            <a:r>
              <a:rPr lang="en-US" sz="2400" dirty="0"/>
              <a:t>Tools</a:t>
            </a:r>
            <a:endParaRPr lang="en-US" dirty="0"/>
          </a:p>
          <a:p>
            <a:pPr marL="800100" lvl="1" indent="-342900">
              <a:spcAft>
                <a:spcPts val="1000"/>
              </a:spcAft>
              <a:buFont typeface="Arial"/>
              <a:buChar char="•"/>
            </a:pPr>
            <a:r>
              <a:rPr lang="en-US" sz="2400" dirty="0"/>
              <a:t>Memory (structured, compacted)</a:t>
            </a:r>
            <a:endParaRPr lang="en-US" dirty="0"/>
          </a:p>
          <a:p>
            <a:pPr marL="800100" lvl="1" indent="-342900">
              <a:spcAft>
                <a:spcPts val="1000"/>
              </a:spcAft>
              <a:buFont typeface="Arial"/>
              <a:buChar char="•"/>
            </a:pPr>
            <a:r>
              <a:rPr lang="en-US" sz="2400" dirty="0"/>
              <a:t>Resources</a:t>
            </a:r>
            <a:endParaRPr lang="en-US" dirty="0"/>
          </a:p>
          <a:p>
            <a:pPr marL="800100" lvl="1" indent="-342900">
              <a:spcAft>
                <a:spcPts val="1000"/>
              </a:spcAft>
              <a:buFont typeface="Arial"/>
              <a:buChar char="•"/>
            </a:pPr>
            <a:r>
              <a:rPr lang="en-US" sz="2400" dirty="0"/>
              <a:t>Architecture/orchestration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595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E18DE-9D45-EF61-9933-AA970AF3D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accent6">
                    <a:lumMod val="76000"/>
                  </a:schemeClr>
                </a:solidFill>
              </a:rPr>
              <a:t>Agents in Code Development</a:t>
            </a:r>
          </a:p>
        </p:txBody>
      </p:sp>
      <p:pic>
        <p:nvPicPr>
          <p:cNvPr id="4" name="Picture 3" descr="Cline - AI Coding, Open Source and Uncompromised">
            <a:extLst>
              <a:ext uri="{FF2B5EF4-FFF2-40B4-BE49-F238E27FC236}">
                <a16:creationId xmlns:a16="http://schemas.microsoft.com/office/drawing/2014/main" id="{3D547557-90E1-A35A-0C1D-781DDCE57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837" y="2069983"/>
            <a:ext cx="2438400" cy="2438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A9B31E-225B-FF5D-031B-56F8C9A67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023" y="2006802"/>
            <a:ext cx="3338387" cy="14429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F7DF99-7208-9EF2-CD49-2CF580E25335}"/>
              </a:ext>
            </a:extLst>
          </p:cNvPr>
          <p:cNvSpPr txBox="1"/>
          <p:nvPr/>
        </p:nvSpPr>
        <p:spPr>
          <a:xfrm>
            <a:off x="1418571" y="4730740"/>
            <a:ext cx="3198479" cy="13285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sz="2400" b="1" dirty="0"/>
              <a:t>Cline</a:t>
            </a:r>
            <a:endParaRPr lang="en-US" sz="2000"/>
          </a:p>
          <a:p>
            <a:pPr algn="ctr"/>
            <a:r>
              <a:rPr lang="en-US" sz="2400" dirty="0"/>
              <a:t>open-source</a:t>
            </a:r>
          </a:p>
          <a:p>
            <a:pPr algn="ctr"/>
            <a:r>
              <a:rPr lang="en-US" sz="2400" dirty="0"/>
              <a:t>vendor agnostic</a:t>
            </a:r>
            <a:endParaRPr 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1B9693-34FF-15B0-8DAD-1FD484C9A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3832065"/>
            <a:ext cx="4159542" cy="8297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37E309-0AA4-BC4F-6DB8-FA748BE2A2B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54" t="38608" r="-134" b="40123"/>
          <a:stretch>
            <a:fillRect/>
          </a:stretch>
        </p:blipFill>
        <p:spPr>
          <a:xfrm>
            <a:off x="6094681" y="5215155"/>
            <a:ext cx="4759736" cy="61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614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DB541-FF16-E04F-495D-9A4ED702C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</a:rPr>
              <a:t>Agents in Code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885AB-58B8-2827-FE64-0C3E11D57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>
              <a:spcAft>
                <a:spcPts val="1000"/>
              </a:spcAft>
            </a:pPr>
            <a:r>
              <a:rPr lang="en-US" dirty="0"/>
              <a:t>Context includes entire repository plus whatever other context the user wishes to supply</a:t>
            </a:r>
          </a:p>
          <a:p>
            <a:pPr lvl="1">
              <a:spcAft>
                <a:spcPts val="1000"/>
              </a:spcAft>
            </a:pPr>
            <a:r>
              <a:rPr lang="en-US" dirty="0"/>
              <a:t>Can be helpful to supply files such as AGENTS.md and periodically compress memory and key information to manage context window size</a:t>
            </a:r>
          </a:p>
          <a:p>
            <a:pPr>
              <a:spcAft>
                <a:spcPts val="1000"/>
              </a:spcAft>
            </a:pPr>
            <a:r>
              <a:rPr lang="en-US" dirty="0"/>
              <a:t>Option to work in "YOLO" mode (full agent), supervised mode, or chat mode</a:t>
            </a:r>
            <a:endParaRPr lang="en-US"/>
          </a:p>
          <a:p>
            <a:pPr>
              <a:spcAft>
                <a:spcPts val="1000"/>
              </a:spcAft>
            </a:pPr>
            <a:r>
              <a:rPr lang="en-US" dirty="0"/>
              <a:t>Helpful to ask for a plan first, then refine and work sequentially through the plan</a:t>
            </a:r>
            <a:endParaRPr lang="en-US"/>
          </a:p>
          <a:p>
            <a:pPr>
              <a:spcAft>
                <a:spcPts val="1000"/>
              </a:spcAft>
            </a:pPr>
            <a:r>
              <a:rPr lang="en-US" dirty="0"/>
              <a:t>It's possible to trace thinking, see full diffs, get explanations, etc.</a:t>
            </a:r>
          </a:p>
        </p:txBody>
      </p:sp>
    </p:spTree>
    <p:extLst>
      <p:ext uri="{BB962C8B-B14F-4D97-AF65-F5344CB8AC3E}">
        <p14:creationId xmlns:p14="http://schemas.microsoft.com/office/powerpoint/2010/main" val="75683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2333DA-7652-A489-DD63-ACE88EDA6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70" y="62918"/>
            <a:ext cx="11697451" cy="673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043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E6016-0967-5D4F-46B1-72FED5E05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</a:rPr>
              <a:t>Agents in Code Development</a:t>
            </a:r>
            <a:endParaRPr lang="en-US" dirty="0">
              <a:solidFill>
                <a:schemeClr val="accent6">
                  <a:lumMod val="76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29DB6-0166-FE30-1AA8-DF4142F59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8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Requirements:</a:t>
            </a:r>
          </a:p>
          <a:p>
            <a:r>
              <a:rPr lang="en-US" dirty="0"/>
              <a:t>API endpoint + base 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i="1" dirty="0"/>
              <a:t>or</a:t>
            </a:r>
          </a:p>
          <a:p>
            <a:r>
              <a:rPr lang="en-US" dirty="0"/>
              <a:t>Vendor authentication</a:t>
            </a:r>
          </a:p>
          <a:p>
            <a:r>
              <a:rPr lang="en-US" dirty="0"/>
              <a:t>Appropriate IDE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E18A807-2433-2D3B-42D2-D7C08691BB92}"/>
              </a:ext>
            </a:extLst>
          </p:cNvPr>
          <p:cNvSpPr txBox="1">
            <a:spLocks/>
          </p:cNvSpPr>
          <p:nvPr/>
        </p:nvSpPr>
        <p:spPr>
          <a:xfrm>
            <a:off x="6429462" y="1831218"/>
            <a:ext cx="5244517" cy="46938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Budget:</a:t>
            </a:r>
          </a:p>
          <a:p>
            <a:r>
              <a:rPr lang="en-US" dirty="0"/>
              <a:t>Model</a:t>
            </a:r>
          </a:p>
          <a:p>
            <a:r>
              <a:rPr lang="en-US" dirty="0"/>
              <a:t>Use type (e.g., reasoning)</a:t>
            </a:r>
          </a:p>
          <a:p>
            <a:r>
              <a:rPr lang="en-US" dirty="0"/>
              <a:t>Input tokens, output tokens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Access:</a:t>
            </a:r>
          </a:p>
          <a:p>
            <a:r>
              <a:rPr lang="en-US" dirty="0"/>
              <a:t>Free trials or free models</a:t>
            </a:r>
          </a:p>
          <a:p>
            <a:r>
              <a:rPr lang="en-US" dirty="0"/>
              <a:t>Paid access (vendor or router)</a:t>
            </a:r>
          </a:p>
          <a:p>
            <a:r>
              <a:rPr lang="en-US" dirty="0"/>
              <a:t>Poppy (State employees, beta)</a:t>
            </a:r>
          </a:p>
        </p:txBody>
      </p:sp>
      <p:pic>
        <p:nvPicPr>
          <p:cNvPr id="7" name="Picture 6" descr="Visual Studio Code - Wikipedia">
            <a:extLst>
              <a:ext uri="{FF2B5EF4-FFF2-40B4-BE49-F238E27FC236}">
                <a16:creationId xmlns:a16="http://schemas.microsoft.com/office/drawing/2014/main" id="{7E676BF9-42FC-4D11-31E8-2CD50A88F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540" y="4329418"/>
            <a:ext cx="1610687" cy="1610687"/>
          </a:xfrm>
          <a:prstGeom prst="rect">
            <a:avLst/>
          </a:prstGeom>
        </p:spPr>
      </p:pic>
      <p:pic>
        <p:nvPicPr>
          <p:cNvPr id="8" name="Picture 7" descr="Positron">
            <a:extLst>
              <a:ext uri="{FF2B5EF4-FFF2-40B4-BE49-F238E27FC236}">
                <a16:creationId xmlns:a16="http://schemas.microsoft.com/office/drawing/2014/main" id="{BC390CF9-F366-9AA7-74FE-1A971B254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490" y="4328849"/>
            <a:ext cx="1611824" cy="161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101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DFE8C-99B9-08B2-D23C-B7420C3AD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</a:rPr>
              <a:t>Agents in Code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04105-2230-E4EB-0CAB-369D7E713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9310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A full day of complete vibe-coding with frontier models might cost $15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014FC2-18A2-5BFD-8E20-D55361A0E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99" y="2616942"/>
            <a:ext cx="10500221" cy="371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0978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29BC8-B416-F47C-2848-0D6C30D7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</a:rPr>
              <a:t>Human in the Loop</a:t>
            </a:r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C56D745-2613-3561-6B35-2AC9FCF6ED0A}"/>
              </a:ext>
            </a:extLst>
          </p:cNvPr>
          <p:cNvGrpSpPr/>
          <p:nvPr/>
        </p:nvGrpSpPr>
        <p:grpSpPr>
          <a:xfrm>
            <a:off x="2032018" y="1925108"/>
            <a:ext cx="8131324" cy="4226430"/>
            <a:chOff x="962422" y="1925108"/>
            <a:chExt cx="8131324" cy="422643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46782CF-114A-F096-7538-DE698B6FAD2E}"/>
                </a:ext>
              </a:extLst>
            </p:cNvPr>
            <p:cNvGrpSpPr/>
            <p:nvPr/>
          </p:nvGrpSpPr>
          <p:grpSpPr>
            <a:xfrm>
              <a:off x="963821" y="1925108"/>
              <a:ext cx="8129925" cy="1214783"/>
              <a:chOff x="963821" y="1925108"/>
              <a:chExt cx="8129925" cy="1214783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2E4BBA0-1152-0D70-E657-7E181A03A8C5}"/>
                  </a:ext>
                </a:extLst>
              </p:cNvPr>
              <p:cNvSpPr/>
              <p:nvPr/>
            </p:nvSpPr>
            <p:spPr>
              <a:xfrm>
                <a:off x="963821" y="1925109"/>
                <a:ext cx="3271302" cy="1214782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3200" dirty="0">
                    <a:solidFill>
                      <a:srgbClr val="000000"/>
                    </a:solidFill>
                  </a:rPr>
                  <a:t>Generate code</a:t>
                </a:r>
                <a:endParaRPr lang="en-US" dirty="0"/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608F7DB8-3C64-16A6-A485-0E4C4F893E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35123" y="2543546"/>
                <a:ext cx="1590260" cy="11043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5A80347-13C1-B428-7902-1649D8913D57}"/>
                  </a:ext>
                </a:extLst>
              </p:cNvPr>
              <p:cNvSpPr/>
              <p:nvPr/>
            </p:nvSpPr>
            <p:spPr>
              <a:xfrm>
                <a:off x="5822444" y="1925108"/>
                <a:ext cx="3271302" cy="121478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3200" dirty="0">
                    <a:solidFill>
                      <a:srgbClr val="000000"/>
                    </a:solidFill>
                  </a:rPr>
                  <a:t>Standard code review</a:t>
                </a:r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EFAD1C5-8064-1B8D-C5C7-EB4CED029939}"/>
                </a:ext>
              </a:extLst>
            </p:cNvPr>
            <p:cNvGrpSpPr/>
            <p:nvPr/>
          </p:nvGrpSpPr>
          <p:grpSpPr>
            <a:xfrm>
              <a:off x="963820" y="3428135"/>
              <a:ext cx="8129925" cy="1214783"/>
              <a:chOff x="963821" y="1925108"/>
              <a:chExt cx="8129925" cy="1214783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B997DA1-96AA-B9A5-3FB4-AD67321AE419}"/>
                  </a:ext>
                </a:extLst>
              </p:cNvPr>
              <p:cNvSpPr/>
              <p:nvPr/>
            </p:nvSpPr>
            <p:spPr>
              <a:xfrm>
                <a:off x="963821" y="1925109"/>
                <a:ext cx="3271302" cy="1214782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3200" dirty="0">
                    <a:solidFill>
                      <a:srgbClr val="000000"/>
                    </a:solidFill>
                  </a:rPr>
                  <a:t>Canonicalize affiliations</a:t>
                </a:r>
                <a:endParaRPr lang="en-US" dirty="0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21A8D6EF-99E9-E846-8E36-F35D8BD600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35123" y="2543546"/>
                <a:ext cx="1590260" cy="11043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867C03D-C6B9-1655-8E6C-EE6C7335A4E7}"/>
                  </a:ext>
                </a:extLst>
              </p:cNvPr>
              <p:cNvSpPr/>
              <p:nvPr/>
            </p:nvSpPr>
            <p:spPr>
              <a:xfrm>
                <a:off x="5822444" y="1925108"/>
                <a:ext cx="3271302" cy="121478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3200" dirty="0">
                    <a:solidFill>
                      <a:srgbClr val="000000"/>
                    </a:solidFill>
                  </a:rPr>
                  <a:t>Iterative lookup table generation</a:t>
                </a:r>
                <a:endParaRPr lang="en-US" dirty="0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5F67644-3F34-3BE4-1A02-F74038C15DAC}"/>
                </a:ext>
              </a:extLst>
            </p:cNvPr>
            <p:cNvSpPr/>
            <p:nvPr/>
          </p:nvSpPr>
          <p:spPr>
            <a:xfrm>
              <a:off x="962422" y="4936756"/>
              <a:ext cx="3271302" cy="121478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3200" dirty="0">
                  <a:solidFill>
                    <a:srgbClr val="000000"/>
                  </a:solidFill>
                </a:rPr>
                <a:t>Classify publications</a:t>
              </a:r>
              <a:endParaRPr lang="en-US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7A20DDB-A736-3958-71F8-AFDEF1CE5C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3724" y="5555193"/>
              <a:ext cx="1590260" cy="11043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9BB763B-8BD9-2A59-1414-647B30878637}"/>
                </a:ext>
              </a:extLst>
            </p:cNvPr>
            <p:cNvSpPr/>
            <p:nvPr/>
          </p:nvSpPr>
          <p:spPr>
            <a:xfrm>
              <a:off x="5821045" y="4936755"/>
              <a:ext cx="3271302" cy="121478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3200" dirty="0">
                  <a:solidFill>
                    <a:srgbClr val="000000"/>
                  </a:solidFill>
                </a:rPr>
                <a:t>Manual, random quality control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469980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229EB23-FACA-70E0-7D92-74699403F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361950"/>
            <a:ext cx="11023600" cy="6144260"/>
          </a:xfrm>
          <a:prstGeom prst="rect">
            <a:avLst/>
          </a:prstGeom>
        </p:spPr>
      </p:pic>
      <p:sp>
        <p:nvSpPr>
          <p:cNvPr id="9" name="TextBox 3">
            <a:extLst>
              <a:ext uri="{FF2B5EF4-FFF2-40B4-BE49-F238E27FC236}">
                <a16:creationId xmlns:a16="http://schemas.microsoft.com/office/drawing/2014/main" id="{CA3DE4E4-7D27-A3A2-8AEC-BD7204D7EACC}"/>
              </a:ext>
            </a:extLst>
          </p:cNvPr>
          <p:cNvSpPr txBox="1"/>
          <p:nvPr/>
        </p:nvSpPr>
        <p:spPr>
          <a:xfrm>
            <a:off x="7424335" y="6320895"/>
            <a:ext cx="458343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1" i="1" dirty="0"/>
              <a:t>second-level classification also available</a:t>
            </a:r>
            <a:endParaRPr lang="en-US" b="1" dirty="0"/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F306B05F-CF49-A29C-75E5-575FF0D9AE99}"/>
              </a:ext>
            </a:extLst>
          </p:cNvPr>
          <p:cNvSpPr txBox="1"/>
          <p:nvPr/>
        </p:nvSpPr>
        <p:spPr>
          <a:xfrm>
            <a:off x="160866" y="6041262"/>
            <a:ext cx="458343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dirty="0">
                <a:solidFill>
                  <a:srgbClr val="FF0000"/>
                </a:solidFill>
              </a:rPr>
              <a:t>preliminary, will change!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b="1" i="1" dirty="0">
                <a:solidFill>
                  <a:srgbClr val="FF0000"/>
                </a:solidFill>
              </a:rPr>
              <a:t>missing much of 2025 and some QC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8101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E1440C-C6C4-CECE-5DD4-D2537B40F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800" y="202733"/>
            <a:ext cx="8319409" cy="6452533"/>
          </a:xfrm>
          <a:prstGeom prst="rect">
            <a:avLst/>
          </a:prstGeom>
        </p:spPr>
      </p:pic>
      <p:sp>
        <p:nvSpPr>
          <p:cNvPr id="10" name="TextBox 3">
            <a:extLst>
              <a:ext uri="{FF2B5EF4-FFF2-40B4-BE49-F238E27FC236}">
                <a16:creationId xmlns:a16="http://schemas.microsoft.com/office/drawing/2014/main" id="{06AC3045-D1DD-DB21-3161-2273D9E82953}"/>
              </a:ext>
            </a:extLst>
          </p:cNvPr>
          <p:cNvSpPr txBox="1"/>
          <p:nvPr/>
        </p:nvSpPr>
        <p:spPr>
          <a:xfrm>
            <a:off x="160866" y="6041262"/>
            <a:ext cx="458343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dirty="0">
                <a:solidFill>
                  <a:srgbClr val="FF0000"/>
                </a:solidFill>
              </a:rPr>
              <a:t>preliminary, will change!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b="1" i="1" dirty="0">
                <a:solidFill>
                  <a:srgbClr val="FF0000"/>
                </a:solidFill>
              </a:rPr>
              <a:t>missing much of 2025 and some QC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1298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F58C6F-CC0E-36FC-FB43-065299D29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435282"/>
              </p:ext>
            </p:extLst>
          </p:nvPr>
        </p:nvGraphicFramePr>
        <p:xfrm>
          <a:off x="546246" y="957082"/>
          <a:ext cx="7352427" cy="436422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3928844">
                  <a:extLst>
                    <a:ext uri="{9D8B030D-6E8A-4147-A177-3AD203B41FA5}">
                      <a16:colId xmlns:a16="http://schemas.microsoft.com/office/drawing/2014/main" val="69827203"/>
                    </a:ext>
                  </a:extLst>
                </a:gridCol>
                <a:gridCol w="3423583">
                  <a:extLst>
                    <a:ext uri="{9D8B030D-6E8A-4147-A177-3AD203B41FA5}">
                      <a16:colId xmlns:a16="http://schemas.microsoft.com/office/drawing/2014/main" val="998020310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</a:rPr>
                        <a:t>Entity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</a:rPr>
                        <a:t>Number of publications</a:t>
                      </a:r>
                    </a:p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</a:rPr>
                        <a:t>(2020-2025)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90679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UC Davis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44495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UC San Diego (incl. Scripps)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36903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USGS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78125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UCLA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04670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NOAA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79601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CDFW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33073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University of Colorado, Boulder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59416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 err="1">
                          <a:effectLst/>
                        </a:rPr>
                        <a:t>CalTech</a:t>
                      </a:r>
                      <a:r>
                        <a:rPr lang="en-US" sz="2000" dirty="0">
                          <a:effectLst/>
                        </a:rPr>
                        <a:t> (JPL)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89463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US Fish and Wildlife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349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UC Berkeley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846836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5DAA297C-438D-A81E-0090-7FCAFCE5ACE9}"/>
              </a:ext>
            </a:extLst>
          </p:cNvPr>
          <p:cNvSpPr txBox="1">
            <a:spLocks/>
          </p:cNvSpPr>
          <p:nvPr/>
        </p:nvSpPr>
        <p:spPr>
          <a:xfrm>
            <a:off x="8222003" y="2306338"/>
            <a:ext cx="3689570" cy="15389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Aptos"/>
              </a:rPr>
              <a:t>More than 400 distinct entities in publications inventory!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576CC631-1FAF-B6B6-0C1B-27534E732312}"/>
              </a:ext>
            </a:extLst>
          </p:cNvPr>
          <p:cNvSpPr txBox="1"/>
          <p:nvPr/>
        </p:nvSpPr>
        <p:spPr>
          <a:xfrm>
            <a:off x="160866" y="6041262"/>
            <a:ext cx="458343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dirty="0">
                <a:solidFill>
                  <a:srgbClr val="FF0000"/>
                </a:solidFill>
              </a:rPr>
              <a:t>preliminary, will change!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b="1" i="1" dirty="0">
                <a:solidFill>
                  <a:srgbClr val="FF0000"/>
                </a:solidFill>
              </a:rPr>
              <a:t>missing much of 2025 and some QC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24839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50351-EF24-CB1E-EF28-E8164D3FF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</a:rPr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4D632-C75C-6466-8E31-BB47B389E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1000"/>
              </a:spcAft>
            </a:pPr>
            <a:r>
              <a:rPr lang="en-US" dirty="0"/>
              <a:t>Code and inventory finalization</a:t>
            </a:r>
            <a:endParaRPr lang="en-US"/>
          </a:p>
          <a:p>
            <a:pPr>
              <a:spcAft>
                <a:spcPts val="1000"/>
              </a:spcAft>
            </a:pPr>
            <a:r>
              <a:rPr lang="en-US" dirty="0"/>
              <a:t>R package publication</a:t>
            </a:r>
          </a:p>
          <a:p>
            <a:pPr>
              <a:spcAft>
                <a:spcPts val="1000"/>
              </a:spcAft>
            </a:pPr>
            <a:r>
              <a:rPr lang="en-US" dirty="0"/>
              <a:t>Automated pipeline development</a:t>
            </a:r>
          </a:p>
          <a:p>
            <a:pPr>
              <a:spcAft>
                <a:spcPts val="1000"/>
              </a:spcAft>
            </a:pPr>
            <a:r>
              <a:rPr lang="en-US" dirty="0"/>
              <a:t>Front-end application development</a:t>
            </a:r>
          </a:p>
          <a:p>
            <a:pPr>
              <a:spcAft>
                <a:spcPts val="1000"/>
              </a:spcAft>
            </a:pPr>
            <a:r>
              <a:rPr lang="en-US" dirty="0"/>
              <a:t>Extension to other CNRA agencies</a:t>
            </a:r>
          </a:p>
          <a:p>
            <a:pPr>
              <a:spcAft>
                <a:spcPts val="1000"/>
              </a:spcAft>
            </a:pPr>
            <a:r>
              <a:rPr lang="en-US" dirty="0"/>
              <a:t>Network analysis</a:t>
            </a:r>
          </a:p>
          <a:p>
            <a:pPr>
              <a:spcAft>
                <a:spcPts val="1000"/>
              </a:spcAft>
            </a:pPr>
            <a:r>
              <a:rPr lang="en-US" dirty="0"/>
              <a:t>Text and data mining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C6CC25-5FC1-2338-FDAD-AB906D8FF528}"/>
              </a:ext>
            </a:extLst>
          </p:cNvPr>
          <p:cNvSpPr txBox="1"/>
          <p:nvPr/>
        </p:nvSpPr>
        <p:spPr>
          <a:xfrm>
            <a:off x="7633252" y="1828799"/>
            <a:ext cx="3723859" cy="16414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000"/>
              </a:spcAft>
            </a:pPr>
            <a:r>
              <a:rPr lang="en-US" sz="2800" i="1" dirty="0"/>
              <a:t>Cost: </a:t>
            </a:r>
            <a:endParaRPr lang="en-US" dirty="0"/>
          </a:p>
          <a:p>
            <a:pPr marL="457200" indent="-457200">
              <a:spcAft>
                <a:spcPts val="1000"/>
              </a:spcAft>
              <a:buFont typeface="Arial"/>
              <a:buChar char="•"/>
            </a:pPr>
            <a:r>
              <a:rPr lang="en-US" sz="2800" i="1" dirty="0"/>
              <a:t>Development time</a:t>
            </a:r>
            <a:endParaRPr lang="en-US" dirty="0"/>
          </a:p>
          <a:p>
            <a:pPr marL="457200" indent="-457200">
              <a:spcAft>
                <a:spcPts val="1000"/>
              </a:spcAft>
              <a:buFont typeface="Arial"/>
              <a:buChar char="•"/>
            </a:pPr>
            <a:r>
              <a:rPr lang="en-US" sz="2800" i="1" dirty="0"/>
              <a:t>$5.00?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6360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FFC4C-9206-70AD-80F6-D8E818400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</a:rPr>
              <a:t>Thanks! Let's Keep Talking! Possibilities...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B6D71-A6CB-F0CE-17AA-3A5732241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97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/>
              <a:t>Agent orchestration and relevant frameworks (e.g., </a:t>
            </a:r>
            <a:r>
              <a:rPr lang="en-US" sz="2200" err="1"/>
              <a:t>LangChain</a:t>
            </a:r>
            <a:r>
              <a:rPr lang="en-US" sz="2200" dirty="0"/>
              <a:t>)</a:t>
            </a:r>
          </a:p>
          <a:p>
            <a:r>
              <a:rPr lang="en-US" sz="2200" dirty="0"/>
              <a:t>Model selection, testing, and benchmarking for environmental data science</a:t>
            </a:r>
          </a:p>
          <a:p>
            <a:r>
              <a:rPr lang="en-US" sz="2200" dirty="0"/>
              <a:t>Chat UIs and LLMs for accessibility in applications (Shiny, </a:t>
            </a:r>
            <a:r>
              <a:rPr lang="en-US" sz="2200" dirty="0" err="1"/>
              <a:t>Streamlit</a:t>
            </a:r>
            <a:r>
              <a:rPr lang="en-US" sz="2200" dirty="0"/>
              <a:t>, etc.)</a:t>
            </a:r>
          </a:p>
          <a:p>
            <a:r>
              <a:rPr lang="en-US" sz="2200" dirty="0"/>
              <a:t>Open-weights model hosting</a:t>
            </a:r>
            <a:r>
              <a:rPr lang="en-US" sz="2200"/>
              <a:t>,</a:t>
            </a:r>
            <a:r>
              <a:rPr lang="en-US" sz="2200" dirty="0"/>
              <a:t> fine-tuning</a:t>
            </a:r>
            <a:r>
              <a:rPr lang="en-US" sz="2200"/>
              <a:t>,</a:t>
            </a:r>
            <a:r>
              <a:rPr lang="en-US" sz="2200" dirty="0"/>
              <a:t> and containerized deployments</a:t>
            </a:r>
          </a:p>
          <a:p>
            <a:r>
              <a:rPr lang="en-US" sz="2200" dirty="0"/>
              <a:t>Structured data extraction from unstructured files (e.g., scanned pdfs, images)</a:t>
            </a:r>
          </a:p>
          <a:p>
            <a:r>
              <a:rPr lang="en-US" sz="2200" dirty="0"/>
              <a:t>Semantic discovery of data and metadata</a:t>
            </a:r>
          </a:p>
          <a:p>
            <a:r>
              <a:rPr lang="en-US" sz="2200" dirty="0"/>
              <a:t>Multi-modal models and retrieval-augmented generation</a:t>
            </a:r>
          </a:p>
          <a:p>
            <a:r>
              <a:rPr lang="en-US" sz="2200" dirty="0"/>
              <a:t>Ethics, bias detection, risk mitigation, and model governance</a:t>
            </a:r>
          </a:p>
          <a:p>
            <a:r>
              <a:rPr lang="en-US" sz="2200" dirty="0"/>
              <a:t>Synthetic data generation</a:t>
            </a:r>
          </a:p>
          <a:p>
            <a:r>
              <a:rPr lang="en-US" sz="2200" dirty="0"/>
              <a:t>Versioning and reproducibility for LLM-assisted workflows</a:t>
            </a:r>
          </a:p>
        </p:txBody>
      </p:sp>
    </p:spTree>
    <p:extLst>
      <p:ext uri="{BB962C8B-B14F-4D97-AF65-F5344CB8AC3E}">
        <p14:creationId xmlns:p14="http://schemas.microsoft.com/office/powerpoint/2010/main" val="43153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70DC15585DC54CB81BE1F5D0FDCC3C" ma:contentTypeVersion="3" ma:contentTypeDescription="Create a new document." ma:contentTypeScope="" ma:versionID="eddb0f77f3dad79264d3a423ffdffe4c">
  <xsd:schema xmlns:xsd="http://www.w3.org/2001/XMLSchema" xmlns:xs="http://www.w3.org/2001/XMLSchema" xmlns:p="http://schemas.microsoft.com/office/2006/metadata/properties" xmlns:ns2="d9602e66-8065-4a8e-b2cf-c2af42ce667f" targetNamespace="http://schemas.microsoft.com/office/2006/metadata/properties" ma:root="true" ma:fieldsID="43d5c6916026c615b2db9cbeba363e96" ns2:_="">
    <xsd:import namespace="d9602e66-8065-4a8e-b2cf-c2af42ce66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602e66-8065-4a8e-b2cf-c2af42ce66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2EF75D7-7207-4B5A-ADB6-1DB52D09B1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602e66-8065-4a8e-b2cf-c2af42ce66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CC5BD95-32D1-4575-8129-FFD11AA5F1F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18703D2-D9FC-46FC-9F2A-713E8E435AE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1124</Words>
  <Application>Microsoft Office PowerPoint</Application>
  <PresentationFormat>Widescreen</PresentationFormat>
  <Paragraphs>201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Roboto</vt:lpstr>
      <vt:lpstr>office theme</vt:lpstr>
      <vt:lpstr>Creating an inventory of peer-reviewed scientific literature using ✨ LLMs ✨</vt:lpstr>
      <vt:lpstr>The Task</vt:lpstr>
      <vt:lpstr>Complexities</vt:lpstr>
      <vt:lpstr>PowerPoint Presentation</vt:lpstr>
      <vt:lpstr>Activities and Approaches</vt:lpstr>
      <vt:lpstr>Import, Clean, and Reshape: APIs</vt:lpstr>
      <vt:lpstr>Import, Clean, and Reshape: Functional Programming</vt:lpstr>
      <vt:lpstr>An Interlude: LLMs for Analytic Work</vt:lpstr>
      <vt:lpstr>How LLMs Work</vt:lpstr>
      <vt:lpstr>How LLMs Work</vt:lpstr>
      <vt:lpstr>Considerations for Using an LLM</vt:lpstr>
      <vt:lpstr>Considerations for Using an LLM</vt:lpstr>
      <vt:lpstr>Context Engineering</vt:lpstr>
      <vt:lpstr>Context Engineering – Single Prompt</vt:lpstr>
      <vt:lpstr>Context Engineering – Single Prompt </vt:lpstr>
      <vt:lpstr>Context Engineering – Single Prompt</vt:lpstr>
      <vt:lpstr>Context Engineering - Agent</vt:lpstr>
      <vt:lpstr>Context Engineering - Agent</vt:lpstr>
      <vt:lpstr>Agents in Code Development</vt:lpstr>
      <vt:lpstr>Agents in Code Development</vt:lpstr>
      <vt:lpstr>PowerPoint Presentation</vt:lpstr>
      <vt:lpstr>Agents in Code Development</vt:lpstr>
      <vt:lpstr>Agents in Code Development</vt:lpstr>
      <vt:lpstr>Human in the Loop</vt:lpstr>
      <vt:lpstr>PowerPoint Presentation</vt:lpstr>
      <vt:lpstr>PowerPoint Presentation</vt:lpstr>
      <vt:lpstr>PowerPoint Presentation</vt:lpstr>
      <vt:lpstr>Next Steps</vt:lpstr>
      <vt:lpstr>Thanks! Let's Keep Talking! Possibilities...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Hartman, Rosemary@DWR (she/her)</dc:creator>
  <cp:lastModifiedBy>Hartman, Rosemary@DWR (she/her)</cp:lastModifiedBy>
  <cp:revision>1046</cp:revision>
  <dcterms:created xsi:type="dcterms:W3CDTF">2025-11-12T18:25:26Z</dcterms:created>
  <dcterms:modified xsi:type="dcterms:W3CDTF">2025-11-13T22:26:10Z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0x0101004770DC15585DC54CB81BE1F5D0FDCC3C</vt:lpwstr>
  </property>
</Properties>
</file>